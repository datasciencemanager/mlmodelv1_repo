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4D8"/>
                </a:solidFill>
              </a:rPr>
              <a:t>OOT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8DB"/>
                </a:solidFill>
              </a:rPr>
              <a:t>Turning data into action — keeping customers before they leave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FC7"/>
                </a:solidFill>
              </a:rPr>
              <a:t>Analytics &amp; Data Science  •  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 — and Can We Stop It?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Customer churn is one of the biggest revenue risks on the OOT platform. Every month, a portion of our active subscribers quietly leave — and by the time we notice, it's too late to 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No Early Warning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Churn is only detected after cancellation. We have no signal to act on in advance.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Reactive Outreach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Retention teams contact customers randomly, wasting effort on loyal users and missing at-risk ones.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2860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Revenue Leakage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Each churned subscriber represents lost recurring revenue and high re-acquisition cost.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A8"/>
                </a:solidFill>
              </a:rPr>
              <a:t>✦  Our Solution: A machine-learning churn model that identifies at-risk customers weeks before they leave, enabling timely, targeted retention actions.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MODEL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How Well Does the Model Predict Who Will Leave?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Instead of complex statistics, think of it like this: out of every 100 customers the model reviews, here's what happens 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64008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76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Flagged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At-Risk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Positives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the model correctly warned us about. We can now act early and retain them.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1888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False Alarm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Positives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Loyal customers the model thought might leave. A small wasted effort — better safe than sorry.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8404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Missed — Left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Undetected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Negatives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who left without a warning. Our goal is to keep this number as small as possible.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661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902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1888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064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Identified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Staying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Negatives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correctly identified as loyal — no unnecessary outreach needed.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PREDICTED: WILL LEAVE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PREDICTED: WILL STAY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90.6%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7432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5468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5468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Churn Catch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84.4%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03504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Precision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END-TO-END MODEL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Raw Data to Business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945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8E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1325880"/>
            <a:ext cx="1078992" cy="54864"/>
          </a:xfrm>
          <a:prstGeom prst="rect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35608"/>
            <a:ext cx="384048" cy="384048"/>
          </a:xfrm>
          <a:prstGeom prst="ellipse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920240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Database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Raw 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behaviour data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307592" y="2994660"/>
            <a:ext cx="146304" cy="0"/>
          </a:xfrm>
          <a:prstGeom prst="line">
            <a:avLst/>
          </a:prstGeom>
          <a:noFill/>
          <a:ln w="25400">
            <a:solidFill>
              <a:srgbClr val="1A8E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732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17320" y="1325880"/>
            <a:ext cx="107899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4792" y="143560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479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20240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45389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Scalable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05456" y="2994660"/>
            <a:ext cx="14630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15184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615184" y="1325880"/>
            <a:ext cx="10789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62656" y="14356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62656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20240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51760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651760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Signals that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predict churn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703320" y="2994660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813048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813048" y="1325880"/>
            <a:ext cx="1078992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160520" y="1435608"/>
            <a:ext cx="384048" cy="38404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160520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920240"/>
            <a:ext cx="530352" cy="53035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849624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3849624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Combining multiple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algorithms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901184" y="2994660"/>
            <a:ext cx="146304" cy="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10912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010912" y="1325880"/>
            <a:ext cx="107899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58384" y="143560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358384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920240"/>
            <a:ext cx="530352" cy="53035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047488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Hyperparameter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Tuning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047488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Selecting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best model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099048" y="2994660"/>
            <a:ext cx="146304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20877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208776" y="1325880"/>
            <a:ext cx="10789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556248" y="143560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55624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920240"/>
            <a:ext cx="530352" cy="53035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24535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Synapse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24535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result storage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7296912" y="2994660"/>
            <a:ext cx="146304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740664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7406640" y="1325880"/>
            <a:ext cx="10789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754112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75411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920240"/>
            <a:ext cx="530352" cy="530352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744321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CRM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59" name="Text 50"/>
          <p:cNvSpPr/>
          <p:nvPr/>
        </p:nvSpPr>
        <p:spPr>
          <a:xfrm>
            <a:off x="744321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Trigger retention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campaigns</a:t>
            </a:r>
            <a:endParaRPr lang="en-US" sz="850" dirty="0"/>
          </a:p>
        </p:txBody>
      </p:sp>
      <p:sp>
        <p:nvSpPr>
          <p:cNvPr id="60" name="Text 51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ADC9"/>
                </a:solidFill>
              </a:rPr>
              <a:t>Automated pipeline runs daily — results flow directly from model to CRM without manual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BUSINESS IMPACT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What This Model Enables for the Business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819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904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Proactive Retention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465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Contact at-risk customers before they cancel, not after.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7685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276856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414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350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Revenue Protection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2606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customer saved avoids re-acquisition cost and maintains LTV.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13639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13639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009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2095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Smarter CRM Targeting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46557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Only high-risk customers receive retention offers — reducing campaign cost.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99592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995928"/>
            <a:ext cx="54864" cy="7132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05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0690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Fully Automated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432511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Daily pipeline refreshes scores and pushes to CRM via API — zero manual effort.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806440" y="1325880"/>
            <a:ext cx="3063240" cy="3657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989320" y="1463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989320" y="192024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893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01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00800" y="193852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Stakeholder sign-off on model thresholds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149340" y="224942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89320" y="24688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89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02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00800" y="248716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CRM team integration testing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149340" y="279806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89320" y="301752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893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03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400800" y="303580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Pilot retention campaign — high-risk segment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149340" y="334670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89320" y="356616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893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04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400800" y="358444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Measure lift vs. control group (4 weeks)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149340" y="389534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989320" y="41148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9893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05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400800" y="413308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production rollout &amp; monitoring dashboard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65760" y="4910328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</a:rPr>
              <a:t>OOT Platform  |  Churn Prediction Model  |  Analytics &amp; Data Science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SEGMENT-LEVEL TARGETING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0"/>
                </a:solidFill>
              </a:rPr>
              <a:t>Tailored Retention Strategy Across 4 Customer Segments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86868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10,000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4"/>
                </a:solidFill>
              </a:rPr>
              <a:t>Total Subscribers Scored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1261872"/>
            <a:ext cx="0" cy="475488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8,500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79192" y="1499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4"/>
                </a:solidFill>
              </a:rPr>
              <a:t>Correctly Identified at Risk  (85%)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99432" y="1261872"/>
            <a:ext cx="0" cy="475488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55464" y="1499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4"/>
                </a:solidFill>
              </a:rPr>
              <a:t>CLV × Subscription Segments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75704" y="1261872"/>
            <a:ext cx="0" cy="475488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31736" y="1499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4"/>
                </a:solidFill>
              </a:rPr>
              <a:t>Automated CRM Activation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1965960"/>
            <a:ext cx="2103120" cy="2834640"/>
          </a:xfrm>
          <a:prstGeom prst="rect">
            <a:avLst/>
          </a:prstGeom>
          <a:solidFill>
            <a:srgbClr val="FFFDF0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1965960"/>
            <a:ext cx="2103120" cy="5943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05740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" y="202082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VALUE · LONG TENURE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77240" y="22951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EE"/>
                </a:solidFill>
              </a:rPr>
              <a:t>1,800 customers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856232" y="2267712"/>
            <a:ext cx="420624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56232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21%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26243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8860B"/>
                </a:solidFill>
              </a:rPr>
              <a:t>CLV &gt; $500  ·  Annual / Multi-year Plan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20040" y="2852928"/>
            <a:ext cx="1920240" cy="914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" y="2852928"/>
            <a:ext cx="172822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2953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860B"/>
                </a:solidFill>
              </a:rPr>
              <a:t>9% churn rate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0040" y="3154680"/>
            <a:ext cx="1920240" cy="201168"/>
          </a:xfrm>
          <a:prstGeom prst="rect">
            <a:avLst/>
          </a:prstGeom>
          <a:solidFill>
            <a:srgbClr val="B8860B">
              <a:alpha val="12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7472" y="3163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860B"/>
                </a:solidFill>
              </a:rPr>
              <a:t>STRATEGY: Priority Retention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20040" y="34107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60B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Dedicated account manager outreach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0040" y="37398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60B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Exclusive VIP loyalty reward offer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20040" y="4069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60B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Personalised win-back incentive (up to 40%)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8600" y="4526280"/>
            <a:ext cx="210312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4562856"/>
            <a:ext cx="164592" cy="16459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76072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 Call + SMS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2395728" y="1965960"/>
            <a:ext cx="2103120" cy="2834640"/>
          </a:xfrm>
          <a:prstGeom prst="rect">
            <a:avLst/>
          </a:prstGeom>
          <a:solidFill>
            <a:srgbClr val="F0F8FF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2395728" y="1965960"/>
            <a:ext cx="2103120" cy="594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2057400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944368" y="202082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VALUE · SHORT TENURE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2944368" y="22951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EE"/>
                </a:solidFill>
              </a:rPr>
              <a:t>2,400 customers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023360" y="2267712"/>
            <a:ext cx="420624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023360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28%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2487168" y="26243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77A8"/>
                </a:solidFill>
              </a:rPr>
              <a:t>CLV &gt; $500  ·  Monthly / Trial Plan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2487168" y="2852928"/>
            <a:ext cx="1920240" cy="914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487168" y="2852928"/>
            <a:ext cx="345643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487168" y="2953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</a:rPr>
              <a:t>18% churn rate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2487168" y="3154680"/>
            <a:ext cx="1920240" cy="201168"/>
          </a:xfrm>
          <a:prstGeom prst="rect">
            <a:avLst/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2514600" y="3163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</a:rPr>
              <a:t>STRATEGY: Upgrade &amp; Lock-in</a:t>
            </a:r>
            <a:endParaRPr lang="en-US" sz="750" dirty="0"/>
          </a:p>
        </p:txBody>
      </p:sp>
      <p:sp>
        <p:nvSpPr>
          <p:cNvPr id="49" name="Text 44"/>
          <p:cNvSpPr/>
          <p:nvPr/>
        </p:nvSpPr>
        <p:spPr>
          <a:xfrm>
            <a:off x="2487168" y="34107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Annual plan upgrade offer with discount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2487168" y="37398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Personalised onboarding journey re-trigger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487168" y="4069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Feature discovery email sequence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2395728" y="4526280"/>
            <a:ext cx="210312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4562856"/>
            <a:ext cx="164592" cy="164592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2743200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Email + In-App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4562856" y="1965960"/>
            <a:ext cx="2103120" cy="2834640"/>
          </a:xfrm>
          <a:prstGeom prst="rect">
            <a:avLst/>
          </a:prstGeom>
          <a:solidFill>
            <a:srgbClr val="F0FFF8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4562856" y="1965960"/>
            <a:ext cx="21031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057400"/>
            <a:ext cx="384048" cy="384048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5111496" y="202082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 VALUE · LONG TENURE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5111496" y="22951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EE"/>
                </a:solidFill>
              </a:rPr>
              <a:t>2,600 customers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>
            <a:off x="6190488" y="2267712"/>
            <a:ext cx="420624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190488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31%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4654296" y="26243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</a:rPr>
              <a:t>CLV &lt; $200  ·  Annual / Multi-year Plan</a:t>
            </a:r>
            <a:endParaRPr lang="en-US" sz="750" dirty="0"/>
          </a:p>
        </p:txBody>
      </p:sp>
      <p:sp>
        <p:nvSpPr>
          <p:cNvPr id="63" name="Shape 56"/>
          <p:cNvSpPr/>
          <p:nvPr/>
        </p:nvSpPr>
        <p:spPr>
          <a:xfrm>
            <a:off x="4654296" y="2852928"/>
            <a:ext cx="1920240" cy="914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4654296" y="2852928"/>
            <a:ext cx="230429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4654296" y="2953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12% churn rate</a:t>
            </a:r>
            <a:endParaRPr lang="en-US" sz="750" dirty="0"/>
          </a:p>
        </p:txBody>
      </p:sp>
      <p:sp>
        <p:nvSpPr>
          <p:cNvPr id="66" name="Shape 59"/>
          <p:cNvSpPr/>
          <p:nvPr/>
        </p:nvSpPr>
        <p:spPr>
          <a:xfrm>
            <a:off x="4654296" y="3154680"/>
            <a:ext cx="1920240" cy="201168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4681728" y="3163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STRATEGY: Engagement &amp; Upsell</a:t>
            </a:r>
            <a:endParaRPr lang="en-US" sz="750" dirty="0"/>
          </a:p>
        </p:txBody>
      </p:sp>
      <p:sp>
        <p:nvSpPr>
          <p:cNvPr id="68" name="Text 61"/>
          <p:cNvSpPr/>
          <p:nvPr/>
        </p:nvSpPr>
        <p:spPr>
          <a:xfrm>
            <a:off x="4654296" y="34107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Content engagement nudges via push notification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4654296" y="37398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Loyalty milestone reward (free month)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4654296" y="4069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Light-touch email re-engagement series</a:t>
            </a:r>
            <a:endParaRPr lang="en-US" sz="800" dirty="0"/>
          </a:p>
        </p:txBody>
      </p:sp>
      <p:sp>
        <p:nvSpPr>
          <p:cNvPr id="71" name="Shape 64"/>
          <p:cNvSpPr/>
          <p:nvPr/>
        </p:nvSpPr>
        <p:spPr>
          <a:xfrm>
            <a:off x="4562856" y="4526280"/>
            <a:ext cx="21031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562856"/>
            <a:ext cx="164592" cy="164592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4910328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Push + Email</a:t>
            </a:r>
            <a:endParaRPr lang="en-US" sz="850" dirty="0"/>
          </a:p>
        </p:txBody>
      </p:sp>
      <p:sp>
        <p:nvSpPr>
          <p:cNvPr id="74" name="Shape 66"/>
          <p:cNvSpPr/>
          <p:nvPr/>
        </p:nvSpPr>
        <p:spPr>
          <a:xfrm>
            <a:off x="6729984" y="1965960"/>
            <a:ext cx="2103120" cy="2834640"/>
          </a:xfrm>
          <a:prstGeom prst="rect">
            <a:avLst/>
          </a:prstGeom>
          <a:solidFill>
            <a:srgbClr val="FFF5F5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67"/>
          <p:cNvSpPr/>
          <p:nvPr/>
        </p:nvSpPr>
        <p:spPr>
          <a:xfrm>
            <a:off x="6729984" y="1965960"/>
            <a:ext cx="210312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712" y="2057400"/>
            <a:ext cx="384048" cy="384048"/>
          </a:xfrm>
          <a:prstGeom prst="rect">
            <a:avLst/>
          </a:prstGeom>
        </p:spPr>
      </p:pic>
      <p:sp>
        <p:nvSpPr>
          <p:cNvPr id="77" name="Text 68"/>
          <p:cNvSpPr/>
          <p:nvPr/>
        </p:nvSpPr>
        <p:spPr>
          <a:xfrm>
            <a:off x="7278624" y="202082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 VALUE · SHORT TENURE</a:t>
            </a:r>
            <a:endParaRPr lang="en-US" sz="850" dirty="0"/>
          </a:p>
        </p:txBody>
      </p:sp>
      <p:sp>
        <p:nvSpPr>
          <p:cNvPr id="78" name="Text 69"/>
          <p:cNvSpPr/>
          <p:nvPr/>
        </p:nvSpPr>
        <p:spPr>
          <a:xfrm>
            <a:off x="7278624" y="22951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EE"/>
                </a:solidFill>
              </a:rPr>
              <a:t>1,700 customers</a:t>
            </a:r>
            <a:endParaRPr lang="en-US" sz="800" dirty="0"/>
          </a:p>
        </p:txBody>
      </p:sp>
      <p:sp>
        <p:nvSpPr>
          <p:cNvPr id="79" name="Shape 70"/>
          <p:cNvSpPr/>
          <p:nvPr/>
        </p:nvSpPr>
        <p:spPr>
          <a:xfrm>
            <a:off x="8357616" y="2267712"/>
            <a:ext cx="420624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0" name="Text 71"/>
          <p:cNvSpPr/>
          <p:nvPr/>
        </p:nvSpPr>
        <p:spPr>
          <a:xfrm>
            <a:off x="8357616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20%</a:t>
            </a:r>
            <a:endParaRPr lang="en-US" sz="900" dirty="0"/>
          </a:p>
        </p:txBody>
      </p:sp>
      <p:sp>
        <p:nvSpPr>
          <p:cNvPr id="81" name="Text 72"/>
          <p:cNvSpPr/>
          <p:nvPr/>
        </p:nvSpPr>
        <p:spPr>
          <a:xfrm>
            <a:off x="6821424" y="26243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</a:rPr>
              <a:t>CLV &lt; $200  ·  Monthly / Trial Plan</a:t>
            </a:r>
            <a:endParaRPr lang="en-US" sz="750" dirty="0"/>
          </a:p>
        </p:txBody>
      </p:sp>
      <p:sp>
        <p:nvSpPr>
          <p:cNvPr id="82" name="Shape 73"/>
          <p:cNvSpPr/>
          <p:nvPr/>
        </p:nvSpPr>
        <p:spPr>
          <a:xfrm>
            <a:off x="6821424" y="2852928"/>
            <a:ext cx="1920240" cy="914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6821424" y="2852928"/>
            <a:ext cx="65288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6821424" y="2953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34% churn rate</a:t>
            </a:r>
            <a:endParaRPr lang="en-US" sz="750" dirty="0"/>
          </a:p>
        </p:txBody>
      </p:sp>
      <p:sp>
        <p:nvSpPr>
          <p:cNvPr id="85" name="Shape 76"/>
          <p:cNvSpPr/>
          <p:nvPr/>
        </p:nvSpPr>
        <p:spPr>
          <a:xfrm>
            <a:off x="6821424" y="3154680"/>
            <a:ext cx="1920240" cy="20116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86" name="Text 77"/>
          <p:cNvSpPr/>
          <p:nvPr/>
        </p:nvSpPr>
        <p:spPr>
          <a:xfrm>
            <a:off x="6848856" y="3163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STRATEGY: Cost-Efficient Rescue</a:t>
            </a:r>
            <a:endParaRPr lang="en-US" sz="750" dirty="0"/>
          </a:p>
        </p:txBody>
      </p:sp>
      <p:sp>
        <p:nvSpPr>
          <p:cNvPr id="87" name="Text 78"/>
          <p:cNvSpPr/>
          <p:nvPr/>
        </p:nvSpPr>
        <p:spPr>
          <a:xfrm>
            <a:off x="6821424" y="34107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Automated SMS with limited-time offer</a:t>
            </a:r>
            <a:endParaRPr lang="en-US" sz="800" dirty="0"/>
          </a:p>
        </p:txBody>
      </p:sp>
      <p:sp>
        <p:nvSpPr>
          <p:cNvPr id="88" name="Text 79"/>
          <p:cNvSpPr/>
          <p:nvPr/>
        </p:nvSpPr>
        <p:spPr>
          <a:xfrm>
            <a:off x="6821424" y="37398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Self-serve help-centre nudge</a:t>
            </a:r>
            <a:endParaRPr lang="en-US" sz="800" dirty="0"/>
          </a:p>
        </p:txBody>
      </p:sp>
      <p:sp>
        <p:nvSpPr>
          <p:cNvPr id="89" name="Text 80"/>
          <p:cNvSpPr/>
          <p:nvPr/>
        </p:nvSpPr>
        <p:spPr>
          <a:xfrm>
            <a:off x="6821424" y="4069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›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Let lapse if no engagement after 2 touches</a:t>
            </a:r>
            <a:endParaRPr lang="en-US" sz="800" dirty="0"/>
          </a:p>
        </p:txBody>
      </p:sp>
      <p:sp>
        <p:nvSpPr>
          <p:cNvPr id="90" name="Shape 81"/>
          <p:cNvSpPr/>
          <p:nvPr/>
        </p:nvSpPr>
        <p:spPr>
          <a:xfrm>
            <a:off x="6729984" y="4526280"/>
            <a:ext cx="21031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9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562856"/>
            <a:ext cx="164592" cy="164592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7077456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SMS Automation</a:t>
            </a:r>
            <a:endParaRPr lang="en-US" sz="850" dirty="0"/>
          </a:p>
        </p:txBody>
      </p:sp>
      <p:sp>
        <p:nvSpPr>
          <p:cNvPr id="93" name="Shape 8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pic>
        <p:nvPicPr>
          <p:cNvPr id="9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4933188"/>
            <a:ext cx="146304" cy="146304"/>
          </a:xfrm>
          <a:prstGeom prst="rect">
            <a:avLst/>
          </a:prstGeom>
        </p:spPr>
      </p:pic>
      <p:sp>
        <p:nvSpPr>
          <p:cNvPr id="95" name="Text 84"/>
          <p:cNvSpPr/>
          <p:nvPr/>
        </p:nvSpPr>
        <p:spPr>
          <a:xfrm>
            <a:off x="521208" y="49286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DC9"/>
                </a:solidFill>
              </a:rPr>
              <a:t>Segments defined by CLV quartile × subscription tenure  ·  Retention actions auto-triggered via Azure Synapse → CRM API  ·  OOT Platform —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OOT Platform Churn Prediction Model</dc:title>
  <dc:subject>PptxGenJS Presentation</dc:subject>
  <dc:creator>PptxGenJS</dc:creator>
  <cp:lastModifiedBy>PptxGenJS</cp:lastModifiedBy>
  <cp:revision>1</cp:revision>
  <dcterms:created xsi:type="dcterms:W3CDTF">2026-04-10T10:27:27Z</dcterms:created>
  <dcterms:modified xsi:type="dcterms:W3CDTF">2026-04-10T10:27:27Z</dcterms:modified>
</cp:coreProperties>
</file>