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B4D8"/>
                </a:solidFill>
              </a:rPr>
              <a:t>OOT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Model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C8DB"/>
                </a:solidFill>
              </a:rPr>
              <a:t>Turning data into action — keeping customers before they leave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4206240"/>
            <a:ext cx="1371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FC7"/>
                </a:solidFill>
              </a:rPr>
              <a:t>Analytics &amp; Data Science  •  April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Losing Customers — and Can We Stop It?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Customer churn is one of the biggest revenue risks on the OOT platform. Every month, a portion of our active subscribers quietly leave — and by the time we notice, it's too late to act.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28600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2316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852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No Early Warning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3200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Churn is only detected after cancellation. We have no signal to act on in advance.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228600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228600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42316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2852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Reactive Outreach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3200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Retention teams contact customers randomly, wasting effort on loyal users and missing at-risk ones.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228600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228600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42316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2852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Revenue Leakage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63640" y="3200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Each churned subscriber represents lost recurring revenue and high re-acquisition cost.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7A8"/>
                </a:solidFill>
              </a:rPr>
              <a:t>✦  Our Solution: A machine-learning churn model that identifies at-risk customers weeks before they leave, enabling timely, targeted retention actions.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</a:rPr>
              <a:t>MODEL 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0"/>
                </a:solidFill>
              </a:rPr>
              <a:t>How Well Does the Model Predict Who Will Leave?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Instead of complex statistics, think of it like this: out of every 100 customers the model reviews, here's what happens →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20240"/>
            <a:ext cx="64008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01168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</a:rPr>
              <a:t>76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84048" y="2542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out of 1,000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Correctly Flagged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as At-Risk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44144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True Positives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263347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Customers the model correctly warned us about. We can now act early and retain them.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920240"/>
            <a:ext cx="64008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201168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14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18888" y="25420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out of 1,000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False Alarm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244144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False Positives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6440" y="263347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Loyal customers the model thought might leave. A small wasted effort — better safe than sorry.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65760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</a:rPr>
              <a:t>8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84048" y="418795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out of 1,000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37160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Missed — Left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Undetected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408736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False Negatives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427939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Customers who left without a warning. Our goal is to keep this number as small as possible.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56616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566160"/>
            <a:ext cx="64008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65760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902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818888" y="418795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out of 1,000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80644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Correctly Identified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as Staying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06440" y="408736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True Negatives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06440" y="427939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Customers correctly identified as loyal — no unnecessary outreach needed.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166420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PREDICTED: WILL LEAVE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09160" y="166420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PREDICTED: WILL STAY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51389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A8"/>
                </a:solidFill>
              </a:rPr>
              <a:t>90.6%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274320" y="52303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Model Accuracy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154680" y="51389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A8"/>
                </a:solidFill>
              </a:rPr>
              <a:t>90.5%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154680" y="52303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Churn Catch Rate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35040" y="51389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7A8"/>
                </a:solidFill>
              </a:rPr>
              <a:t>84.4%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035040" y="52303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Precision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530"/>
          </a:solidFill>
          <a:ln w="12700">
            <a:solidFill>
              <a:srgbClr val="0A15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</a:rPr>
              <a:t>END-TO-END MODEL 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From Raw Data to Business Action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19456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8E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9456" y="1325880"/>
            <a:ext cx="1078992" cy="54864"/>
          </a:xfrm>
          <a:prstGeom prst="rect">
            <a:avLst/>
          </a:prstGeom>
          <a:solidFill>
            <a:srgbClr val="1A8ECC"/>
          </a:solidFill>
          <a:ln w="12700">
            <a:solidFill>
              <a:srgbClr val="1A8E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35608"/>
            <a:ext cx="384048" cy="384048"/>
          </a:xfrm>
          <a:prstGeom prst="ellipse">
            <a:avLst/>
          </a:prstGeom>
          <a:solidFill>
            <a:srgbClr val="1A8ECC"/>
          </a:solidFill>
          <a:ln w="12700">
            <a:solidFill>
              <a:srgbClr val="1A8E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920240"/>
            <a:ext cx="530352" cy="530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6032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 Database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6032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Raw customer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behaviour data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307592" y="2994660"/>
            <a:ext cx="146304" cy="0"/>
          </a:xfrm>
          <a:prstGeom prst="line">
            <a:avLst/>
          </a:prstGeom>
          <a:noFill/>
          <a:ln w="25400">
            <a:solidFill>
              <a:srgbClr val="1A8E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17320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417320" y="1325880"/>
            <a:ext cx="1078992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64792" y="1435608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764792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920240"/>
            <a:ext cx="530352" cy="5303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53896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Databricks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453896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Scalable 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processing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2505456" y="2994660"/>
            <a:ext cx="146304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615184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615184" y="1325880"/>
            <a:ext cx="107899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962656" y="143560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962656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920240"/>
            <a:ext cx="530352" cy="53035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651760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Engineering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2651760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Signals that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predict churn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703320" y="2994660"/>
            <a:ext cx="146304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813048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813048" y="1325880"/>
            <a:ext cx="1078992" cy="5486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160520" y="1435608"/>
            <a:ext cx="384048" cy="384048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160520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1920240"/>
            <a:ext cx="530352" cy="53035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849624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Ensemble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3849624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Combining multiple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algorithms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4901184" y="2994660"/>
            <a:ext cx="146304" cy="0"/>
          </a:xfrm>
          <a:prstGeom prst="line">
            <a:avLst/>
          </a:prstGeom>
          <a:noFill/>
          <a:ln w="25400">
            <a:solidFill>
              <a:srgbClr val="DB2777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5010912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5010912" y="1325880"/>
            <a:ext cx="1078992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358384" y="1435608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358384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1920240"/>
            <a:ext cx="530352" cy="53035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047488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Hyperparameter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Tuning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5047488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Selecting the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best model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6099048" y="2994660"/>
            <a:ext cx="146304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6208776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6208776" y="1325880"/>
            <a:ext cx="107899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6556248" y="143560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6556248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1920240"/>
            <a:ext cx="530352" cy="530352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6245352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Azure Synapse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Pipeline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6245352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Automated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result storage</a:t>
            </a:r>
            <a:endParaRPr lang="en-US" sz="850" dirty="0"/>
          </a:p>
        </p:txBody>
      </p:sp>
      <p:sp>
        <p:nvSpPr>
          <p:cNvPr id="52" name="Shape 44"/>
          <p:cNvSpPr/>
          <p:nvPr/>
        </p:nvSpPr>
        <p:spPr>
          <a:xfrm>
            <a:off x="7296912" y="2994660"/>
            <a:ext cx="146304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7406640" y="1325880"/>
            <a:ext cx="1078992" cy="3337560"/>
          </a:xfrm>
          <a:prstGeom prst="rect">
            <a:avLst/>
          </a:prstGeom>
          <a:solidFill>
            <a:srgbClr val="16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7406640" y="1325880"/>
            <a:ext cx="107899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7754112" y="143560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7754112" y="1435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1920240"/>
            <a:ext cx="530352" cy="530352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7443216" y="25603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CRM via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</a:t>
            </a:r>
            <a:endParaRPr lang="en-US" sz="1000" dirty="0"/>
          </a:p>
        </p:txBody>
      </p:sp>
      <p:sp>
        <p:nvSpPr>
          <p:cNvPr id="59" name="Text 50"/>
          <p:cNvSpPr/>
          <p:nvPr/>
        </p:nvSpPr>
        <p:spPr>
          <a:xfrm>
            <a:off x="7443216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Trigger retention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BB8D4"/>
                </a:solidFill>
              </a:rPr>
              <a:t>campaigns</a:t>
            </a:r>
            <a:endParaRPr lang="en-US" sz="850" dirty="0"/>
          </a:p>
        </p:txBody>
      </p:sp>
      <p:sp>
        <p:nvSpPr>
          <p:cNvPr id="60" name="Text 51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ADC9"/>
                </a:solidFill>
              </a:rPr>
              <a:t>Automated pipeline runs daily — results flow directly from model to CRM without manual intervention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</a:rPr>
              <a:t>BUSINESS IMPACT &amp; 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0"/>
                </a:solidFill>
              </a:rPr>
              <a:t>What This Model Enables for the Business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58191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49047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Proactive Retention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74650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Contact at-risk customers before they cancel, not after.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2276856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276856"/>
            <a:ext cx="54864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44144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235000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Revenue Protection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14400" y="260604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Every customer saved avoids re-acquisition cost and maintains LTV.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3136392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3136392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30098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20954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Smarter CRM Targeting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14400" y="346557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Only high-risk customers receive retention offers — reducing campaign cost.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74320" y="3995928"/>
            <a:ext cx="5303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3995928"/>
            <a:ext cx="54864" cy="7132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16052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406908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Fully Automated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14400" y="432511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Daily pipeline refreshes scores and pushes to CRM via API — zero manual effort.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806440" y="1325880"/>
            <a:ext cx="3063240" cy="36576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5989320" y="146304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989320" y="192024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98932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01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400800" y="1938528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Stakeholder sign-off on model thresholds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149340" y="2249424"/>
            <a:ext cx="0" cy="21945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989320" y="246888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98932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02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6400800" y="2487168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CRM team integration testing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149340" y="2798064"/>
            <a:ext cx="0" cy="21945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989320" y="301752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98932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03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6400800" y="3035808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Pilot retention campaign — high-risk segment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149340" y="3346704"/>
            <a:ext cx="0" cy="21945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989320" y="356616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98932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04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400800" y="3584448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Measure lift vs. control group (4 weeks)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6149340" y="3895344"/>
            <a:ext cx="0" cy="21945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5989320" y="411480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98932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05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6400800" y="4133088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Full production rollout &amp; monitoring dashboard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365760" y="4910328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9"/>
                </a:solidFill>
              </a:rPr>
              <a:t>OOT Platform  |  Churn Prediction Model  |  Analytics &amp; Data Science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OOT Platform Churn Prediction Model</dc:title>
  <dc:subject>PptxGenJS Presentation</dc:subject>
  <dc:creator>PptxGenJS</dc:creator>
  <cp:lastModifiedBy>PptxGenJS</cp:lastModifiedBy>
  <cp:revision>1</cp:revision>
  <dcterms:created xsi:type="dcterms:W3CDTF">2026-04-10T10:18:10Z</dcterms:created>
  <dcterms:modified xsi:type="dcterms:W3CDTF">2026-04-10T10:18:10Z</dcterms:modified>
</cp:coreProperties>
</file>