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840480" cy="3840480"/>
          </a:xfrm>
          <a:prstGeom prst="ellipse">
            <a:avLst/>
          </a:prstGeom>
          <a:solidFill>
            <a:srgbClr val="1B4F72">
              <a:alpha val="3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STREAMING PLATFORM  ·  COMMERCIAL BRIEF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0515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Subscriber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with AI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" y="2834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Retain. Grow.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02920" y="3429000"/>
            <a:ext cx="256032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6118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Learning–Powered Churn Prevention for Scalable Revenue Protection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315968"/>
            <a:ext cx="1920240" cy="640080"/>
          </a:xfrm>
          <a:prstGeom prst="rect">
            <a:avLst/>
          </a:prstGeom>
          <a:solidFill>
            <a:srgbClr val="1B4F72">
              <a:alpha val="3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3342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" y="46177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79192" y="4315968"/>
            <a:ext cx="1920240" cy="640080"/>
          </a:xfrm>
          <a:prstGeom prst="rect">
            <a:avLst/>
          </a:prstGeom>
          <a:solidFill>
            <a:srgbClr val="1B4F72">
              <a:alpha val="3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3342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79192" y="46177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55464" y="4315968"/>
            <a:ext cx="1920240" cy="640080"/>
          </a:xfrm>
          <a:prstGeom prst="rect">
            <a:avLst/>
          </a:prstGeom>
          <a:solidFill>
            <a:srgbClr val="1B4F72">
              <a:alpha val="3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5464" y="43342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55464" y="46177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031736" y="4315968"/>
            <a:ext cx="1920240" cy="640080"/>
          </a:xfrm>
          <a:prstGeom prst="rect">
            <a:avLst/>
          </a:prstGeom>
          <a:solidFill>
            <a:srgbClr val="1B4F72">
              <a:alpha val="3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31736" y="43342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5.4×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031736" y="46177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April 2025  ·  Data Science &amp; Product Analytics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503920" y="49194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A7A"/>
                </a:solidFill>
              </a:rPr>
              <a:t>1 / 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&amp; PROBLEM  ·  Churn is Quietly Destroying Revenue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100584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82296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875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850392"/>
            <a:ext cx="7635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OTT platform loses ~22% of subscribers annually — costing $38M — yet 60% show detectable warning signals 30+ days before leaving. A predictive AI model recovers $18–22M/yr with a 5.4× ROI.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" y="1965960"/>
            <a:ext cx="202996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965960"/>
            <a:ext cx="2029968" cy="594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205740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56032" y="2679192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032" y="30175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16% industry avg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32304" y="1965960"/>
            <a:ext cx="202996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32304" y="1965960"/>
            <a:ext cx="2029968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32304" y="205740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$38M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2432304" y="2679192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 revenue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32304" y="30175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churn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08576" y="1965960"/>
            <a:ext cx="202996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08576" y="1965960"/>
            <a:ext cx="2029968" cy="5943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8576" y="205740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4.2×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4608576" y="2679192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vs retain cost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08576" y="30175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subscriber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84848" y="1965960"/>
            <a:ext cx="202996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784848" y="1965960"/>
            <a:ext cx="2029968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84848" y="2057400"/>
            <a:ext cx="20299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6784848" y="2679192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predictable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784848" y="30175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30+ days out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3675888"/>
            <a:ext cx="1325880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3675888"/>
            <a:ext cx="1325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737360" y="365760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model, we react after churn happens. Re-acquisition costs 4× more than retention — and brand trust is already lost.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61104"/>
            <a:ext cx="347472" cy="34747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87552" y="4151376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we identify at-risk subscribers before they cancel — and intervene profitably?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8503920" y="49194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 / 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Azure Ensemble Model + Proven Performance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Azure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59436" cy="6217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533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24358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Ingest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7824" y="150876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· Event Hubs · ADF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192024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920240"/>
            <a:ext cx="59436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0848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197510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Engineer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77824" y="224028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Unity Catalog · Delta Lake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265176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651760"/>
            <a:ext cx="59436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81635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" y="270662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Model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77824" y="297180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Random Forest + Stacking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20040" y="338328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383280"/>
            <a:ext cx="59436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54787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7824" y="343814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Deploy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77824" y="370332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· AKS · API Management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" y="411480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4114800"/>
            <a:ext cx="59436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27939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7824" y="4169664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Act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77824" y="443484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· Dynamics 365 · Power BI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6634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663440" y="1225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080760" y="12252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675120" y="1261872"/>
            <a:ext cx="21031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675120" y="1261872"/>
            <a:ext cx="1913839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663440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6080760" y="17373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675120" y="1773936"/>
            <a:ext cx="21031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675120" y="1773936"/>
            <a:ext cx="1829714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663440" y="22494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6080760" y="22494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675120" y="2286000"/>
            <a:ext cx="21031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675120" y="2286000"/>
            <a:ext cx="1724558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663440" y="27614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6080760" y="27614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6675120" y="2798064"/>
            <a:ext cx="21031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675120" y="2798064"/>
            <a:ext cx="1766621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663440" y="32735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base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6080760" y="32735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6675120" y="3310128"/>
            <a:ext cx="21031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6675120" y="3310128"/>
            <a:ext cx="157734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4663440" y="3822192"/>
            <a:ext cx="4160520" cy="1005840"/>
          </a:xfrm>
          <a:prstGeom prst="rect">
            <a:avLst/>
          </a:prstGeom>
          <a:solidFill>
            <a:srgbClr val="E8F4F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800600" y="3858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95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160520"/>
            <a:ext cx="182880" cy="18288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5038344" y="41330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advance warning window</a:t>
            </a:r>
            <a:endParaRPr lang="en-US" sz="95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434840"/>
            <a:ext cx="182880" cy="18288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038344" y="44074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per prediction</a:t>
            </a:r>
            <a:endParaRPr lang="en-US" sz="950" dirty="0"/>
          </a:p>
        </p:txBody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4160520"/>
            <a:ext cx="182880" cy="18288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6958584" y="41330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+ real-time scoring</a:t>
            </a:r>
            <a:endParaRPr lang="en-US" sz="950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4434840"/>
            <a:ext cx="182880" cy="182880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6958584" y="44074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Databricks Unity Catalog</a:t>
            </a:r>
            <a:endParaRPr lang="en-US" sz="950" dirty="0"/>
          </a:p>
        </p:txBody>
      </p:sp>
      <p:sp>
        <p:nvSpPr>
          <p:cNvPr id="62" name="Shape 5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45720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result: Model-driven outreach recovered 34% of predicted churners vs 9% baseline — a 3.8× improvement.</a:t>
            </a:r>
            <a:endParaRPr lang="en-US" sz="950" dirty="0"/>
          </a:p>
        </p:txBody>
      </p:sp>
      <p:sp>
        <p:nvSpPr>
          <p:cNvPr id="64" name="Text 53"/>
          <p:cNvSpPr/>
          <p:nvPr/>
        </p:nvSpPr>
        <p:spPr>
          <a:xfrm>
            <a:off x="8503920" y="49194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 / 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IMPACT  ·  ROI &amp; Retention Playbook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Financial Projection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069080" cy="804672"/>
          </a:xfrm>
          <a:prstGeom prst="rect">
            <a:avLst/>
          </a:prstGeom>
          <a:solidFill>
            <a:srgbClr val="0D1B2A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6187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$18–22M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0" y="129844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revenue recovered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39696"/>
            <a:ext cx="4069080" cy="804672"/>
          </a:xfrm>
          <a:prstGeom prst="rect">
            <a:avLst/>
          </a:prstGeom>
          <a:solidFill>
            <a:srgbClr val="0D1B2A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945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22311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model investment (ROI)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72384"/>
            <a:ext cx="4069080" cy="804672"/>
          </a:xfrm>
          <a:prstGeom prst="rect">
            <a:avLst/>
          </a:prstGeom>
          <a:solidFill>
            <a:srgbClr val="0D1B2A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1272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377440" y="316382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break-even from deployment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4041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vs. Return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43400"/>
          <a:ext cx="4069080" cy="685800"/>
        </p:xfrm>
        <a:graphic>
          <a:graphicData uri="http://schemas.openxmlformats.org/drawingml/2006/table">
            <a:tbl>
              <a:tblPr/>
              <a:tblGrid>
                <a:gridCol w="2651760"/>
                <a:gridCol w="1417320"/>
              </a:tblGrid>
              <a:tr h="1714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infrastructure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recovered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6634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Playbook — Risk Tiers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207008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207008"/>
            <a:ext cx="416052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09160" y="12252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&gt;80%  ·  ~80K subs</a:t>
            </a:r>
            <a:endParaRPr lang="en-US" sz="9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609344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974336" y="1581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call + loyalty offer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38528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74336" y="19110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month / upgrade trial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63440" y="2414016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63440" y="2414016"/>
            <a:ext cx="4160520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09160" y="2432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709160" y="24323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40–80%  ·  ~195K subs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816352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974336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 + discount 10–20%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145536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74336" y="3118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content pack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663440" y="3621024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663440" y="3621024"/>
            <a:ext cx="416052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70916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709160" y="3639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&lt;40%  ·  ~1.72M subs</a:t>
            </a:r>
            <a:endParaRPr lang="en-US" sz="9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023360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974336" y="3995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usual</a:t>
            </a:r>
            <a:endParaRPr lang="en-US" sz="10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352544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974336" y="4325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NPS + content nudge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8503920" y="49194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 / 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2560320"/>
            <a:ext cx="5029200" cy="5029200"/>
          </a:xfrm>
          <a:prstGeom prst="ellipse">
            <a:avLst/>
          </a:prstGeom>
          <a:solidFill>
            <a:srgbClr val="1B4F72">
              <a:alpha val="18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4846320" cy="64008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426464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64792"/>
            <a:ext cx="1143000" cy="1810512"/>
          </a:xfrm>
          <a:prstGeom prst="rect">
            <a:avLst/>
          </a:prstGeom>
          <a:solidFill>
            <a:srgbClr val="142333"/>
          </a:solidFill>
          <a:ln w="10160">
            <a:solidFill>
              <a:srgbClr val="1B4F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64792"/>
            <a:ext cx="1143000" cy="45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051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" y="2331720"/>
            <a:ext cx="1033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 · ADF pipeline · Unity Catalog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57400" y="142646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27632" y="1764792"/>
            <a:ext cx="1143000" cy="1810512"/>
          </a:xfrm>
          <a:prstGeom prst="rect">
            <a:avLst/>
          </a:prstGeom>
          <a:solidFill>
            <a:srgbClr val="142333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27632" y="1764792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632" y="181051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27632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5–8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27632" y="2029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82496" y="2331720"/>
            <a:ext cx="1033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feature table · RFM signals · MLflow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73552" y="1426464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43784" y="1764792"/>
            <a:ext cx="1143000" cy="1810512"/>
          </a:xfrm>
          <a:prstGeom prst="rect">
            <a:avLst/>
          </a:prstGeom>
          <a:solidFill>
            <a:srgbClr val="142333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43784" y="1764792"/>
            <a:ext cx="1143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43784" y="181051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43784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843784" y="2029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98648" y="2331720"/>
            <a:ext cx="1033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training · SHAP · A/B framework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89704" y="142646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764792"/>
            <a:ext cx="1143000" cy="1810512"/>
          </a:xfrm>
          <a:prstGeom prst="rect">
            <a:avLst/>
          </a:prstGeom>
          <a:solidFill>
            <a:srgbClr val="142333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59936" y="1764792"/>
            <a:ext cx="1143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9936" y="181051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59936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59936" y="20299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Activate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2331720"/>
            <a:ext cx="10332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endpoint · CRM · Power BI go-live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3703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in three lines: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005072"/>
            <a:ext cx="201168" cy="20116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85800" y="3977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churn costs $38M/yr — unsustainable.</a:t>
            </a:r>
            <a:endParaRPr lang="en-US" sz="10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315968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85800" y="42885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accurate model predicts churn 30 days ahead.</a:t>
            </a:r>
            <a:endParaRPr lang="en-US" sz="105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26864"/>
            <a:ext cx="201168" cy="20116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85800" y="45994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$18–22M recovered/yr — 5.4× ROI.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349240" y="960120"/>
            <a:ext cx="3566160" cy="3337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486400" y="102412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requesting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proceed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Phase 1.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5486400" y="2084832"/>
            <a:ext cx="3200400" cy="36576"/>
          </a:xfrm>
          <a:prstGeom prst="rect">
            <a:avLst/>
          </a:prstGeom>
          <a:solidFill>
            <a:srgbClr val="0D1B2A">
              <a:alpha val="40000"/>
            </a:srgbClr>
          </a:solidFill>
          <a:ln w="12700">
            <a:solidFill>
              <a:srgbClr val="0D1B2A">
                <a:alpha val="40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486400" y="2176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needed:</a:t>
            </a:r>
            <a:endParaRPr lang="en-US" sz="105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514600"/>
            <a:ext cx="182880" cy="18288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724144" y="24871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approval: $2M/yr (infra + team)</a:t>
            </a:r>
            <a:endParaRPr lang="en-US" sz="105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935224"/>
            <a:ext cx="182880" cy="18288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724144" y="29077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assignment</a:t>
            </a:r>
            <a:endParaRPr lang="en-US" sz="105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355848"/>
            <a:ext cx="182880" cy="18288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724144" y="332841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access: product &amp; CRM teams</a:t>
            </a:r>
            <a:endParaRPr lang="en-US" sz="105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776472"/>
            <a:ext cx="182880" cy="18288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5724144" y="3749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 sign-off (5% of subs)</a:t>
            </a:r>
            <a:endParaRPr lang="en-US" sz="1050" dirty="0"/>
          </a:p>
        </p:txBody>
      </p:sp>
      <p:sp>
        <p:nvSpPr>
          <p:cNvPr id="53" name="Text 44"/>
          <p:cNvSpPr/>
          <p:nvPr/>
        </p:nvSpPr>
        <p:spPr>
          <a:xfrm>
            <a:off x="5394960" y="4389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4" name="Text 45"/>
          <p:cNvSpPr/>
          <p:nvPr/>
        </p:nvSpPr>
        <p:spPr>
          <a:xfrm>
            <a:off x="411480" y="49194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Product Analytics  ·  OTT Platform  ·  April 2025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8503920" y="49194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6A7A"/>
                </a:solidFill>
              </a:rPr>
              <a:t>5 / 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 Churn Model — 5-Slide Commercial Brief</dc:title>
  <dc:subject>PptxGenJS Presentation</dc:subject>
  <dc:creator>PptxGenJS</dc:creator>
  <cp:lastModifiedBy>PptxGenJS</cp:lastModifiedBy>
  <cp:revision>1</cp:revision>
  <dcterms:created xsi:type="dcterms:W3CDTF">2026-04-14T17:14:24Z</dcterms:created>
  <dcterms:modified xsi:type="dcterms:W3CDTF">2026-04-14T17:14:24Z</dcterms:modified>
</cp:coreProperties>
</file>