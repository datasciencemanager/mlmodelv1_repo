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Subscribers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0–10%</c:v>
                  </c:pt>
                  <c:pt idx="1">
                    <c:v>10–20%</c:v>
                  </c:pt>
                  <c:pt idx="2">
                    <c:v>20–40%</c:v>
                  </c:pt>
                  <c:pt idx="3">
                    <c:v>40–60%</c:v>
                  </c:pt>
                  <c:pt idx="4">
                    <c:v>60–80%</c:v>
                  </c:pt>
                  <c:pt idx="5">
                    <c:v>80–100%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620000</c:v>
                </c:pt>
                <c:pt idx="1">
                  <c:v>480000</c:v>
                </c:pt>
                <c:pt idx="2">
                  <c:v>340000</c:v>
                </c:pt>
                <c:pt idx="3">
                  <c:v>195000</c:v>
                </c:pt>
                <c:pt idx="4">
                  <c:v>120000</c:v>
                </c:pt>
                <c:pt idx="5">
                  <c:v>80000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Churn probability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Lost (Churn)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Yr 1</c:v>
                  </c:pt>
                  <c:pt idx="1">
                    <c:v>Yr 2</c:v>
                  </c:pt>
                  <c:pt idx="2">
                    <c:v>Yr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38</c:v>
                </c:pt>
                <c:pt idx="1">
                  <c:v>42</c:v>
                </c:pt>
                <c:pt idx="2">
                  <c:v>46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Revenue Recovered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Yr 1</c:v>
                  </c:pt>
                  <c:pt idx="1">
                    <c:v>Yr 2</c:v>
                  </c:pt>
                  <c:pt idx="2">
                    <c:v>Yr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18</c:v>
                </c:pt>
                <c:pt idx="1">
                  <c:v>21</c:v>
                </c:pt>
                <c:pt idx="2">
                  <c:v>24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1B4F72">
              <a:alpha val="4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-548640"/>
            <a:ext cx="2011680" cy="201168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5029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 STREAMING PLATFORM  ·  COMMERCIAL BRIEF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02920" y="1097280"/>
            <a:ext cx="6858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Subscriber</a:t>
            </a:r>
            <a:endParaRPr lang="en-US" sz="4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with AI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502920" y="283464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Predict. Retain. Grow.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502920" y="3429000"/>
            <a:ext cx="2286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361188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AEC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Learning–Powered Churn Prevention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AEC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Scalable Revenue Protection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0292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April 2025  ·  Data Science &amp; Product Analytics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— THE GOVERNING THOUGHT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0" y="868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PYRAMID PRINCIPLE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8412480" cy="1234440"/>
          </a:xfrm>
          <a:prstGeom prst="rect">
            <a:avLst/>
          </a:prstGeom>
          <a:solidFill>
            <a:srgbClr val="E8F4F8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60120"/>
            <a:ext cx="82296" cy="1234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15568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1005840"/>
            <a:ext cx="7498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OTT platform loses ~22% of subscribers annually — costing $38M in lost revenue — yet 60% of churners show detectable signals 30+ days in advance. An AI-powered churn model, deployed on Azure, can identify at-risk subscribers with 87% accuracy and enable targeted retention that recovers $18–22M annually.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365760" y="2423160"/>
            <a:ext cx="265176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5760" y="2423160"/>
            <a:ext cx="265176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2633472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5760" y="32004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65760" y="3547872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churn erodes LTV</a:t>
            </a:r>
            <a:endParaRPr lang="en-US" sz="11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acquisition ROI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3200400" y="2423160"/>
            <a:ext cx="265176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200400" y="2423160"/>
            <a:ext cx="265176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2633472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200400" y="32004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3200400" y="3547872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ML model</a:t>
            </a:r>
            <a:endParaRPr lang="en-US" sz="11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87% precision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035040" y="2423160"/>
            <a:ext cx="265176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035040" y="2423160"/>
            <a:ext cx="265176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2633472"/>
            <a:ext cx="502920" cy="5029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035040" y="32004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Return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6035040" y="3547872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$18–22M annual</a:t>
            </a:r>
            <a:endParaRPr lang="en-US" sz="11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recovered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8778240" y="484632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 ·  Churn is Quietly Destroying Revenue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68680"/>
            <a:ext cx="1097280" cy="256032"/>
          </a:xfrm>
          <a:prstGeom prst="rect">
            <a:avLst/>
          </a:prstGeom>
          <a:solidFill>
            <a:srgbClr val="64748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600200" y="841248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OTT market is saturating. Subscribers have more choice than ever — and they leave quickly when value isn't felt.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74320" y="1353312"/>
            <a:ext cx="2029968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353312"/>
            <a:ext cx="2029968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481328"/>
            <a:ext cx="20299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274320" y="2167128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churn rate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74320" y="2542032"/>
            <a:ext cx="2029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avg: 16%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50592" y="1353312"/>
            <a:ext cx="2029968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50592" y="1353312"/>
            <a:ext cx="2029968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50592" y="1481328"/>
            <a:ext cx="20299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$38M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2450592" y="2167128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annual revenue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450592" y="2542032"/>
            <a:ext cx="2029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voluntary churn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26864" y="1353312"/>
            <a:ext cx="2029968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26864" y="1353312"/>
            <a:ext cx="2029968" cy="640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26864" y="1481328"/>
            <a:ext cx="20299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4.2x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4626864" y="2167128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acquire vs retain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626864" y="2542032"/>
            <a:ext cx="2029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subscriber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803136" y="1353312"/>
            <a:ext cx="2029968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03136" y="1353312"/>
            <a:ext cx="2029968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03136" y="1481328"/>
            <a:ext cx="20299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3800" dirty="0"/>
          </a:p>
        </p:txBody>
      </p:sp>
      <p:sp>
        <p:nvSpPr>
          <p:cNvPr id="25" name="Text 23"/>
          <p:cNvSpPr/>
          <p:nvPr/>
        </p:nvSpPr>
        <p:spPr>
          <a:xfrm>
            <a:off x="6803136" y="2167128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Churners are predictable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803136" y="2542032"/>
            <a:ext cx="2029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detectable 30d+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5760" y="3218688"/>
            <a:ext cx="1371600" cy="256032"/>
          </a:xfrm>
          <a:prstGeom prst="rect">
            <a:avLst/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COMPLICATION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874520" y="3200400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predictive model, we react to churn after it happens — re-acquisition campaigns cost 4× more than retention, and brand trust is already damaged.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65760" y="3749040"/>
            <a:ext cx="841248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0"/>
            <a:ext cx="411480" cy="41148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143000" y="3767328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Question: Can we identify at-risk subscribers before they cancel — and intervene profitably?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8778240" y="484632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  ·  Azure-Powered Ensemble Churn Model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4124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ensemble ML model (XGBoost + Random Forest + Logistic Regression) trained on 18 months of subscriber behaviour — deployed on Azure, scoring 2M+ subscribers nightly.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1463040"/>
            <a:ext cx="1572768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463040"/>
            <a:ext cx="1572768" cy="640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627632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28600" y="2103120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28600" y="2441448"/>
            <a:ext cx="15727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SQL</a:t>
            </a:r>
            <a:endParaRPr lang="en-US" sz="9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Hubs</a:t>
            </a:r>
            <a:endParaRPr lang="en-US" sz="9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ADF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841248" y="3401568"/>
            <a:ext cx="347472" cy="347472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1248" y="3401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1801368" y="2487168"/>
            <a:ext cx="182880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901952" y="2359152"/>
            <a:ext cx="146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984248" y="1463040"/>
            <a:ext cx="1572768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984248" y="1463040"/>
            <a:ext cx="1572768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1627632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984248" y="2103120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984248" y="2441448"/>
            <a:ext cx="15727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</a:t>
            </a:r>
            <a:endParaRPr lang="en-US" sz="9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</a:t>
            </a:r>
            <a:endParaRPr lang="en-US" sz="9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Lake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2596896" y="3401568"/>
            <a:ext cx="347472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2596896" y="3401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3557016" y="2487168"/>
            <a:ext cx="182880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657600" y="2359152"/>
            <a:ext cx="146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3739896" y="1463040"/>
            <a:ext cx="1572768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3739896" y="1463040"/>
            <a:ext cx="1572768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0248" y="1627632"/>
            <a:ext cx="457200" cy="45720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3739896" y="2103120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3739896" y="2441448"/>
            <a:ext cx="15727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9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9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4352544" y="3401568"/>
            <a:ext cx="347472" cy="34747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4352544" y="3401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5312664" y="2487168"/>
            <a:ext cx="182880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5413248" y="2359152"/>
            <a:ext cx="146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33" name="Shape 28"/>
          <p:cNvSpPr/>
          <p:nvPr/>
        </p:nvSpPr>
        <p:spPr>
          <a:xfrm>
            <a:off x="5495544" y="1463040"/>
            <a:ext cx="1572768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5495544" y="1463040"/>
            <a:ext cx="1572768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5896" y="1627632"/>
            <a:ext cx="457200" cy="45720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5495544" y="2103120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200" dirty="0"/>
          </a:p>
        </p:txBody>
      </p:sp>
      <p:sp>
        <p:nvSpPr>
          <p:cNvPr id="37" name="Text 31"/>
          <p:cNvSpPr/>
          <p:nvPr/>
        </p:nvSpPr>
        <p:spPr>
          <a:xfrm>
            <a:off x="5495544" y="2441448"/>
            <a:ext cx="15727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ML</a:t>
            </a:r>
            <a:endParaRPr lang="en-US" sz="9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</a:t>
            </a:r>
            <a:endParaRPr lang="en-US" sz="9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Mgmt</a:t>
            </a:r>
            <a:endParaRPr lang="en-US" sz="950" dirty="0"/>
          </a:p>
        </p:txBody>
      </p:sp>
      <p:sp>
        <p:nvSpPr>
          <p:cNvPr id="38" name="Shape 32"/>
          <p:cNvSpPr/>
          <p:nvPr/>
        </p:nvSpPr>
        <p:spPr>
          <a:xfrm>
            <a:off x="6108192" y="3401568"/>
            <a:ext cx="347472" cy="3474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6108192" y="3401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0" name="Shape 34"/>
          <p:cNvSpPr/>
          <p:nvPr/>
        </p:nvSpPr>
        <p:spPr>
          <a:xfrm>
            <a:off x="7068312" y="2487168"/>
            <a:ext cx="182880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7168896" y="2359152"/>
            <a:ext cx="146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42" name="Shape 36"/>
          <p:cNvSpPr/>
          <p:nvPr/>
        </p:nvSpPr>
        <p:spPr>
          <a:xfrm>
            <a:off x="7251192" y="1463040"/>
            <a:ext cx="1572768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43" name="Shape 37"/>
          <p:cNvSpPr/>
          <p:nvPr/>
        </p:nvSpPr>
        <p:spPr>
          <a:xfrm>
            <a:off x="7251192" y="1463040"/>
            <a:ext cx="1572768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4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1544" y="1627632"/>
            <a:ext cx="457200" cy="457200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7251192" y="2103120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200" dirty="0"/>
          </a:p>
        </p:txBody>
      </p:sp>
      <p:sp>
        <p:nvSpPr>
          <p:cNvPr id="46" name="Text 39"/>
          <p:cNvSpPr/>
          <p:nvPr/>
        </p:nvSpPr>
        <p:spPr>
          <a:xfrm>
            <a:off x="7251192" y="2441448"/>
            <a:ext cx="15727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</a:t>
            </a:r>
            <a:endParaRPr lang="en-US" sz="9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Dynamics 365</a:t>
            </a:r>
            <a:endParaRPr lang="en-US" sz="9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950" dirty="0"/>
          </a:p>
        </p:txBody>
      </p:sp>
      <p:sp>
        <p:nvSpPr>
          <p:cNvPr id="47" name="Shape 40"/>
          <p:cNvSpPr/>
          <p:nvPr/>
        </p:nvSpPr>
        <p:spPr>
          <a:xfrm>
            <a:off x="7863840" y="3401568"/>
            <a:ext cx="347472" cy="3474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8" name="Text 41"/>
          <p:cNvSpPr/>
          <p:nvPr/>
        </p:nvSpPr>
        <p:spPr>
          <a:xfrm>
            <a:off x="7863840" y="3401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9" name="Shape 42"/>
          <p:cNvSpPr/>
          <p:nvPr/>
        </p:nvSpPr>
        <p:spPr>
          <a:xfrm>
            <a:off x="228600" y="3886200"/>
            <a:ext cx="8686800" cy="896112"/>
          </a:xfrm>
          <a:prstGeom prst="rect">
            <a:avLst/>
          </a:prstGeom>
          <a:solidFill>
            <a:srgbClr val="E8F4F8"/>
          </a:solidFill>
          <a:ln w="10160">
            <a:solidFill>
              <a:srgbClr val="00B4D8"/>
            </a:solidFill>
            <a:prstDash val="solid"/>
          </a:ln>
        </p:spPr>
      </p:sp>
      <p:pic>
        <p:nvPicPr>
          <p:cNvPr id="5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050792"/>
            <a:ext cx="219456" cy="219456"/>
          </a:xfrm>
          <a:prstGeom prst="rect">
            <a:avLst/>
          </a:prstGeom>
        </p:spPr>
      </p:pic>
      <p:sp>
        <p:nvSpPr>
          <p:cNvPr id="51" name="Text 43"/>
          <p:cNvSpPr/>
          <p:nvPr/>
        </p:nvSpPr>
        <p:spPr>
          <a:xfrm>
            <a:off x="713232" y="400507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 prediction accuracy (AUC 0.91)</a:t>
            </a:r>
            <a:endParaRPr lang="en-US" sz="900" dirty="0"/>
          </a:p>
        </p:txBody>
      </p:sp>
      <p:pic>
        <p:nvPicPr>
          <p:cNvPr id="5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76272" y="4050792"/>
            <a:ext cx="219456" cy="219456"/>
          </a:xfrm>
          <a:prstGeom prst="rect">
            <a:avLst/>
          </a:prstGeom>
        </p:spPr>
      </p:pic>
      <p:sp>
        <p:nvSpPr>
          <p:cNvPr id="53" name="Text 44"/>
          <p:cNvSpPr/>
          <p:nvPr/>
        </p:nvSpPr>
        <p:spPr>
          <a:xfrm>
            <a:off x="2432304" y="400507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advance warning window</a:t>
            </a:r>
            <a:endParaRPr lang="en-US" sz="900" dirty="0"/>
          </a:p>
        </p:txBody>
      </p:sp>
      <p:pic>
        <p:nvPicPr>
          <p:cNvPr id="5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95344" y="4050792"/>
            <a:ext cx="219456" cy="219456"/>
          </a:xfrm>
          <a:prstGeom prst="rect">
            <a:avLst/>
          </a:prstGeom>
        </p:spPr>
      </p:pic>
      <p:sp>
        <p:nvSpPr>
          <p:cNvPr id="55" name="Text 45"/>
          <p:cNvSpPr/>
          <p:nvPr/>
        </p:nvSpPr>
        <p:spPr>
          <a:xfrm>
            <a:off x="4151376" y="400507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 for each prediction</a:t>
            </a:r>
            <a:endParaRPr lang="en-US" sz="900" dirty="0"/>
          </a:p>
        </p:txBody>
      </p:sp>
      <p:pic>
        <p:nvPicPr>
          <p:cNvPr id="5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14416" y="4050792"/>
            <a:ext cx="219456" cy="219456"/>
          </a:xfrm>
          <a:prstGeom prst="rect">
            <a:avLst/>
          </a:prstGeom>
        </p:spPr>
      </p:pic>
      <p:sp>
        <p:nvSpPr>
          <p:cNvPr id="57" name="Text 46"/>
          <p:cNvSpPr/>
          <p:nvPr/>
        </p:nvSpPr>
        <p:spPr>
          <a:xfrm>
            <a:off x="5870448" y="400507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batch + real-time scoring</a:t>
            </a:r>
            <a:endParaRPr lang="en-US" sz="900" dirty="0"/>
          </a:p>
        </p:txBody>
      </p:sp>
      <p:pic>
        <p:nvPicPr>
          <p:cNvPr id="5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33488" y="4050792"/>
            <a:ext cx="219456" cy="219456"/>
          </a:xfrm>
          <a:prstGeom prst="rect">
            <a:avLst/>
          </a:prstGeom>
        </p:spPr>
      </p:pic>
      <p:sp>
        <p:nvSpPr>
          <p:cNvPr id="59" name="Text 47"/>
          <p:cNvSpPr/>
          <p:nvPr/>
        </p:nvSpPr>
        <p:spPr>
          <a:xfrm>
            <a:off x="7589520" y="400507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by Databricks Unity Catalog</a:t>
            </a:r>
            <a:endParaRPr lang="en-US" sz="900" dirty="0"/>
          </a:p>
        </p:txBody>
      </p:sp>
      <p:sp>
        <p:nvSpPr>
          <p:cNvPr id="60" name="Text 48"/>
          <p:cNvSpPr/>
          <p:nvPr/>
        </p:nvSpPr>
        <p:spPr>
          <a:xfrm>
            <a:off x="8778240" y="484632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 ·  Evidence That the Model Works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686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 Metrics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783080" y="132588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423160" y="1371600"/>
            <a:ext cx="182880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23160" y="1371600"/>
            <a:ext cx="1664208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89280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783080" y="1892808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423160" y="1938528"/>
            <a:ext cx="182880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23160" y="1938528"/>
            <a:ext cx="1591056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45973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783080" y="2459736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423160" y="2505456"/>
            <a:ext cx="182880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23160" y="2505456"/>
            <a:ext cx="1499616" cy="2011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02666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783080" y="3026664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423160" y="3072384"/>
            <a:ext cx="182880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423160" y="3072384"/>
            <a:ext cx="1536192" cy="20116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5935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over base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783080" y="3593592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3.2×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423160" y="3639312"/>
            <a:ext cx="182880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23160" y="3639312"/>
            <a:ext cx="1371600" cy="2011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8686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Churn Score Distribution</a:t>
            </a:r>
            <a:endParaRPr lang="en-US" sz="1300" dirty="0"/>
          </a:p>
        </p:txBody>
      </p:sp>
      <p:graphicFrame>
        <p:nvGraphicFramePr>
          <p:cNvPr id="27" name="Chart 0" descr=""/>
          <p:cNvGraphicFramePr/>
          <p:nvPr/>
        </p:nvGraphicFramePr>
        <p:xfrm>
          <a:off x="4663440" y="1234440"/>
          <a:ext cx="420624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8" name="Shape 25"/>
          <p:cNvSpPr/>
          <p:nvPr/>
        </p:nvSpPr>
        <p:spPr>
          <a:xfrm>
            <a:off x="7132320" y="1417320"/>
            <a:ext cx="1737360" cy="594360"/>
          </a:xfrm>
          <a:prstGeom prst="rect">
            <a:avLst/>
          </a:prstGeom>
          <a:solidFill>
            <a:srgbClr val="FEF2F2"/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132320" y="141732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395K at-risk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365760" y="4343400"/>
            <a:ext cx="841248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434840"/>
            <a:ext cx="320040" cy="320040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1005840" y="4361688"/>
            <a:ext cx="7498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backtest: model-driven outreach recovered 34% of predicted churners vs 9% baseline — a 3.8× improvement.</a:t>
            </a:r>
            <a:endParaRPr lang="en-US" sz="1150" dirty="0"/>
          </a:p>
        </p:txBody>
      </p:sp>
      <p:sp>
        <p:nvSpPr>
          <p:cNvPr id="33" name="Text 29"/>
          <p:cNvSpPr/>
          <p:nvPr/>
        </p:nvSpPr>
        <p:spPr>
          <a:xfrm>
            <a:off x="8778240" y="484632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80560" y="0"/>
            <a:ext cx="4663440" cy="5143500"/>
          </a:xfrm>
          <a:prstGeom prst="rect">
            <a:avLst/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5720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508760"/>
            <a:ext cx="1645920" cy="457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62763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EC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Financial Projection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2103120"/>
            <a:ext cx="4069080" cy="804672"/>
          </a:xfrm>
          <a:prstGeom prst="rect">
            <a:avLst/>
          </a:prstGeom>
          <a:solidFill>
            <a:srgbClr val="1B4F72">
              <a:alpha val="30000"/>
            </a:srgbClr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14884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$18–22M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423160" y="214884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AEC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annual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AEC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recovered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999232"/>
            <a:ext cx="4069080" cy="804672"/>
          </a:xfrm>
          <a:prstGeom prst="rect">
            <a:avLst/>
          </a:prstGeom>
          <a:solidFill>
            <a:srgbClr val="1B4F72">
              <a:alpha val="30000"/>
            </a:srgbClr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044952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5.4×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423160" y="3044952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AEC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model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AEC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(ROI)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3895344"/>
            <a:ext cx="4069080" cy="804672"/>
          </a:xfrm>
          <a:prstGeom prst="rect">
            <a:avLst/>
          </a:prstGeom>
          <a:solidFill>
            <a:srgbClr val="1B4F72">
              <a:alpha val="30000"/>
            </a:srgbClr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941064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months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423160" y="3941064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AEC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break-even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AEC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deployment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63440" y="32004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Revenue Impact ($M)</a:t>
            </a:r>
            <a:endParaRPr lang="en-US" sz="12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4572000" y="749808"/>
          <a:ext cx="429768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Text 14"/>
          <p:cNvSpPr/>
          <p:nvPr/>
        </p:nvSpPr>
        <p:spPr>
          <a:xfrm>
            <a:off x="4617720" y="370332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vs. Return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4023360"/>
          <a:ext cx="42062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645920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infrastructure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$1.2M/yr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science team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$0.8M/yr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recovered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+$20M/yr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Text 15"/>
          <p:cNvSpPr/>
          <p:nvPr/>
        </p:nvSpPr>
        <p:spPr>
          <a:xfrm>
            <a:off x="8778240" y="484632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PLAYBOOK  ·  Turning Scores Into Subscriber Actions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2788920" cy="40050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68680"/>
            <a:ext cx="2788920" cy="4754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86968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124712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&gt; 80%  ·  ~80K subs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44475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actions:</a:t>
            </a:r>
            <a:endParaRPr lang="en-US" sz="1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764792"/>
            <a:ext cx="201168" cy="20116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67512" y="17373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outreach call / chat</a:t>
            </a:r>
            <a:endParaRPr lang="en-US" sz="10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240280"/>
            <a:ext cx="201168" cy="2011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67512" y="221284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content reco</a:t>
            </a:r>
            <a:endParaRPr lang="en-US" sz="10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715768"/>
            <a:ext cx="201168" cy="2011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67512" y="2688336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 loyalty offer</a:t>
            </a:r>
            <a:endParaRPr lang="en-US" sz="10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191256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67512" y="3163824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month / upgrade trial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411480" y="3749040"/>
            <a:ext cx="2514600" cy="502920"/>
          </a:xfrm>
          <a:prstGeom prst="rect">
            <a:avLst/>
          </a:prstGeom>
          <a:solidFill>
            <a:srgbClr val="E8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411480" y="376732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/ sub: $6 / sub   Recovery: 34%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3227832" y="868680"/>
            <a:ext cx="2788920" cy="40050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3227832" y="868680"/>
            <a:ext cx="2788920" cy="47548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3227832" y="886968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3227832" y="1124712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40–80%  ·  ~195K subs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3364992" y="144475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actions:</a:t>
            </a:r>
            <a:endParaRPr lang="en-US" sz="10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4992" y="1764792"/>
            <a:ext cx="201168" cy="20116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621024" y="17373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email / push</a:t>
            </a:r>
            <a:endParaRPr lang="en-US" sz="100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64992" y="2240280"/>
            <a:ext cx="201168" cy="20116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3621024" y="221284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Re-engagement content pack</a:t>
            </a:r>
            <a:endParaRPr lang="en-US" sz="100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4992" y="2715768"/>
            <a:ext cx="201168" cy="201168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3621024" y="2688336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offer (10–20%)</a:t>
            </a:r>
            <a:endParaRPr lang="en-US" sz="100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64992" y="3191256"/>
            <a:ext cx="201168" cy="201168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3621024" y="3163824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discovery nudge</a:t>
            </a:r>
            <a:endParaRPr lang="en-US" sz="1000" dirty="0"/>
          </a:p>
        </p:txBody>
      </p:sp>
      <p:sp>
        <p:nvSpPr>
          <p:cNvPr id="33" name="Shape 23"/>
          <p:cNvSpPr/>
          <p:nvPr/>
        </p:nvSpPr>
        <p:spPr>
          <a:xfrm>
            <a:off x="3364992" y="3749040"/>
            <a:ext cx="2514600" cy="502920"/>
          </a:xfrm>
          <a:prstGeom prst="rect">
            <a:avLst/>
          </a:prstGeom>
          <a:solidFill>
            <a:srgbClr val="E8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24"/>
          <p:cNvSpPr/>
          <p:nvPr/>
        </p:nvSpPr>
        <p:spPr>
          <a:xfrm>
            <a:off x="3364992" y="376732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/ sub: $1.5 / sub   Recovery: 22%</a:t>
            </a:r>
            <a:endParaRPr lang="en-US" sz="950" dirty="0"/>
          </a:p>
        </p:txBody>
      </p:sp>
      <p:sp>
        <p:nvSpPr>
          <p:cNvPr id="35" name="Shape 25"/>
          <p:cNvSpPr/>
          <p:nvPr/>
        </p:nvSpPr>
        <p:spPr>
          <a:xfrm>
            <a:off x="6181344" y="868680"/>
            <a:ext cx="2788920" cy="40050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36" name="Shape 26"/>
          <p:cNvSpPr/>
          <p:nvPr/>
        </p:nvSpPr>
        <p:spPr>
          <a:xfrm>
            <a:off x="6181344" y="868680"/>
            <a:ext cx="2788920" cy="4754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27"/>
          <p:cNvSpPr/>
          <p:nvPr/>
        </p:nvSpPr>
        <p:spPr>
          <a:xfrm>
            <a:off x="6181344" y="886968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1300" dirty="0"/>
          </a:p>
        </p:txBody>
      </p:sp>
      <p:sp>
        <p:nvSpPr>
          <p:cNvPr id="38" name="Text 28"/>
          <p:cNvSpPr/>
          <p:nvPr/>
        </p:nvSpPr>
        <p:spPr>
          <a:xfrm>
            <a:off x="6181344" y="1124712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&lt; 40%  ·  ~1.72M subs</a:t>
            </a:r>
            <a:endParaRPr lang="en-US" sz="900" dirty="0"/>
          </a:p>
        </p:txBody>
      </p:sp>
      <p:sp>
        <p:nvSpPr>
          <p:cNvPr id="39" name="Text 29"/>
          <p:cNvSpPr/>
          <p:nvPr/>
        </p:nvSpPr>
        <p:spPr>
          <a:xfrm>
            <a:off x="6318504" y="144475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actions:</a:t>
            </a:r>
            <a:endParaRPr lang="en-US" sz="1000" dirty="0"/>
          </a:p>
        </p:txBody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18504" y="1764792"/>
            <a:ext cx="201168" cy="201168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6574536" y="17373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as usual</a:t>
            </a:r>
            <a:endParaRPr lang="en-US" sz="1000" dirty="0"/>
          </a:p>
        </p:txBody>
      </p:sp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18504" y="2240280"/>
            <a:ext cx="201168" cy="201168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6574536" y="221284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NPS survey</a:t>
            </a:r>
            <a:endParaRPr lang="en-US" sz="1000" dirty="0"/>
          </a:p>
        </p:txBody>
      </p:sp>
      <p:pic>
        <p:nvPicPr>
          <p:cNvPr id="4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18504" y="2715768"/>
            <a:ext cx="201168" cy="201168"/>
          </a:xfrm>
          <a:prstGeom prst="rect">
            <a:avLst/>
          </a:prstGeom>
        </p:spPr>
      </p:pic>
      <p:sp>
        <p:nvSpPr>
          <p:cNvPr id="45" name="Text 32"/>
          <p:cNvSpPr/>
          <p:nvPr/>
        </p:nvSpPr>
        <p:spPr>
          <a:xfrm>
            <a:off x="6574536" y="2688336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preference update</a:t>
            </a:r>
            <a:endParaRPr lang="en-US" sz="1000" dirty="0"/>
          </a:p>
        </p:txBody>
      </p:sp>
      <p:pic>
        <p:nvPicPr>
          <p:cNvPr id="4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18504" y="3191256"/>
            <a:ext cx="201168" cy="201168"/>
          </a:xfrm>
          <a:prstGeom prst="rect">
            <a:avLst/>
          </a:prstGeom>
        </p:spPr>
      </p:pic>
      <p:sp>
        <p:nvSpPr>
          <p:cNvPr id="47" name="Text 33"/>
          <p:cNvSpPr/>
          <p:nvPr/>
        </p:nvSpPr>
        <p:spPr>
          <a:xfrm>
            <a:off x="6574536" y="3163824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engagement</a:t>
            </a:r>
            <a:endParaRPr lang="en-US" sz="1000" dirty="0"/>
          </a:p>
        </p:txBody>
      </p:sp>
      <p:sp>
        <p:nvSpPr>
          <p:cNvPr id="48" name="Shape 34"/>
          <p:cNvSpPr/>
          <p:nvPr/>
        </p:nvSpPr>
        <p:spPr>
          <a:xfrm>
            <a:off x="6318504" y="3749040"/>
            <a:ext cx="2514600" cy="502920"/>
          </a:xfrm>
          <a:prstGeom prst="rect">
            <a:avLst/>
          </a:prstGeom>
          <a:solidFill>
            <a:srgbClr val="E8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35"/>
          <p:cNvSpPr/>
          <p:nvPr/>
        </p:nvSpPr>
        <p:spPr>
          <a:xfrm>
            <a:off x="6318504" y="376732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/ sub: $0.2 / sub   Recovery: n/a</a:t>
            </a:r>
            <a:endParaRPr lang="en-US" sz="950" dirty="0"/>
          </a:p>
        </p:txBody>
      </p:sp>
      <p:sp>
        <p:nvSpPr>
          <p:cNvPr id="50" name="Text 36"/>
          <p:cNvSpPr/>
          <p:nvPr/>
        </p:nvSpPr>
        <p:spPr>
          <a:xfrm>
            <a:off x="8778240" y="484632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  ·  From Data to Production in 16 Weeks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841248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34440" y="1005840"/>
            <a:ext cx="201168" cy="201168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371600"/>
            <a:ext cx="1993392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371600"/>
            <a:ext cx="1993392" cy="640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481328"/>
            <a:ext cx="914400" cy="237744"/>
          </a:xfrm>
          <a:prstGeom prst="rect">
            <a:avLst/>
          </a:prstGeom>
          <a:solidFill>
            <a:srgbClr val="1B4F7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38912" y="148132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1–4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1755648"/>
            <a:ext cx="19933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3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2176272"/>
            <a:ext cx="182880" cy="1828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13232" y="214884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infra setup</a:t>
            </a:r>
            <a:endParaRPr lang="en-US" sz="10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2706624"/>
            <a:ext cx="182880" cy="1828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13232" y="267919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 (ADF)</a:t>
            </a:r>
            <a:endParaRPr lang="en-US" sz="10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3236976"/>
            <a:ext cx="182880" cy="1828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13232" y="3209544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Unity Catalog</a:t>
            </a:r>
            <a:endParaRPr lang="en-US" sz="10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3767328"/>
            <a:ext cx="182880" cy="1828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13232" y="3739896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Bronze/Silver layers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337560" y="1005840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2468880" y="1371600"/>
            <a:ext cx="1993392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2468880" y="1371600"/>
            <a:ext cx="1993392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2542032" y="1481328"/>
            <a:ext cx="914400" cy="237744"/>
          </a:xfrm>
          <a:prstGeom prst="rect">
            <a:avLst/>
          </a:prstGeom>
          <a:solidFill>
            <a:srgbClr val="00B4D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2542032" y="148132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5–8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2468880" y="1755648"/>
            <a:ext cx="19933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8608" y="2176272"/>
            <a:ext cx="182880" cy="1828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2816352" y="214884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feature table</a:t>
            </a:r>
            <a:endParaRPr lang="en-US" sz="100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78608" y="2706624"/>
            <a:ext cx="182880" cy="18288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2816352" y="267919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+ behaviour signals</a:t>
            </a:r>
            <a:endParaRPr lang="en-US" sz="1000" dirty="0"/>
          </a:p>
        </p:txBody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78608" y="3236976"/>
            <a:ext cx="182880" cy="18288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2816352" y="3209544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experiment tracking</a:t>
            </a:r>
            <a:endParaRPr lang="en-US" sz="1000" dirty="0"/>
          </a:p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78608" y="3767328"/>
            <a:ext cx="182880" cy="18288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2816352" y="3739896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 checks</a:t>
            </a:r>
            <a:endParaRPr lang="en-US" sz="1000" dirty="0"/>
          </a:p>
        </p:txBody>
      </p:sp>
      <p:sp>
        <p:nvSpPr>
          <p:cNvPr id="34" name="Shape 24"/>
          <p:cNvSpPr/>
          <p:nvPr/>
        </p:nvSpPr>
        <p:spPr>
          <a:xfrm>
            <a:off x="5440680" y="1005840"/>
            <a:ext cx="201168" cy="20116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5" name="Shape 25"/>
          <p:cNvSpPr/>
          <p:nvPr/>
        </p:nvSpPr>
        <p:spPr>
          <a:xfrm>
            <a:off x="4572000" y="1371600"/>
            <a:ext cx="1993392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36" name="Shape 26"/>
          <p:cNvSpPr/>
          <p:nvPr/>
        </p:nvSpPr>
        <p:spPr>
          <a:xfrm>
            <a:off x="4572000" y="1371600"/>
            <a:ext cx="1993392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7" name="Text 27"/>
          <p:cNvSpPr/>
          <p:nvPr/>
        </p:nvSpPr>
        <p:spPr>
          <a:xfrm>
            <a:off x="4645152" y="1481328"/>
            <a:ext cx="914400" cy="237744"/>
          </a:xfrm>
          <a:prstGeom prst="rect">
            <a:avLst/>
          </a:prstGeom>
          <a:solidFill>
            <a:srgbClr val="F4A2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38" name="Text 28"/>
          <p:cNvSpPr/>
          <p:nvPr/>
        </p:nvSpPr>
        <p:spPr>
          <a:xfrm>
            <a:off x="4645152" y="148132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9–12</a:t>
            </a:r>
            <a:endParaRPr lang="en-US" sz="900" dirty="0"/>
          </a:p>
        </p:txBody>
      </p:sp>
      <p:sp>
        <p:nvSpPr>
          <p:cNvPr id="39" name="Text 29"/>
          <p:cNvSpPr/>
          <p:nvPr/>
        </p:nvSpPr>
        <p:spPr>
          <a:xfrm>
            <a:off x="4572000" y="1755648"/>
            <a:ext cx="19933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Build</a:t>
            </a:r>
            <a:endParaRPr lang="en-US" sz="1300" dirty="0"/>
          </a:p>
        </p:txBody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81728" y="2176272"/>
            <a:ext cx="182880" cy="182880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4919472" y="214884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training</a:t>
            </a:r>
            <a:endParaRPr lang="en-US" sz="1000" dirty="0"/>
          </a:p>
        </p:txBody>
      </p:sp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81728" y="2706624"/>
            <a:ext cx="182880" cy="182880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4919472" y="267919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</a:t>
            </a:r>
            <a:endParaRPr lang="en-US" sz="1000" dirty="0"/>
          </a:p>
        </p:txBody>
      </p:sp>
      <p:pic>
        <p:nvPicPr>
          <p:cNvPr id="4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81728" y="3236976"/>
            <a:ext cx="182880" cy="182880"/>
          </a:xfrm>
          <a:prstGeom prst="rect">
            <a:avLst/>
          </a:prstGeom>
        </p:spPr>
      </p:pic>
      <p:sp>
        <p:nvSpPr>
          <p:cNvPr id="45" name="Text 32"/>
          <p:cNvSpPr/>
          <p:nvPr/>
        </p:nvSpPr>
        <p:spPr>
          <a:xfrm>
            <a:off x="4919472" y="3209544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 framework</a:t>
            </a:r>
            <a:endParaRPr lang="en-US" sz="1000" dirty="0"/>
          </a:p>
        </p:txBody>
      </p:sp>
      <p:pic>
        <p:nvPicPr>
          <p:cNvPr id="4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81728" y="3767328"/>
            <a:ext cx="182880" cy="182880"/>
          </a:xfrm>
          <a:prstGeom prst="rect">
            <a:avLst/>
          </a:prstGeom>
        </p:spPr>
      </p:pic>
      <p:sp>
        <p:nvSpPr>
          <p:cNvPr id="47" name="Text 33"/>
          <p:cNvSpPr/>
          <p:nvPr/>
        </p:nvSpPr>
        <p:spPr>
          <a:xfrm>
            <a:off x="4919472" y="3739896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benchmarks</a:t>
            </a:r>
            <a:endParaRPr lang="en-US" sz="1000" dirty="0"/>
          </a:p>
        </p:txBody>
      </p:sp>
      <p:sp>
        <p:nvSpPr>
          <p:cNvPr id="48" name="Shape 34"/>
          <p:cNvSpPr/>
          <p:nvPr/>
        </p:nvSpPr>
        <p:spPr>
          <a:xfrm>
            <a:off x="7543800" y="1005840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9" name="Shape 35"/>
          <p:cNvSpPr/>
          <p:nvPr/>
        </p:nvSpPr>
        <p:spPr>
          <a:xfrm>
            <a:off x="6675120" y="1371600"/>
            <a:ext cx="1993392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50" name="Shape 36"/>
          <p:cNvSpPr/>
          <p:nvPr/>
        </p:nvSpPr>
        <p:spPr>
          <a:xfrm>
            <a:off x="6675120" y="1371600"/>
            <a:ext cx="1993392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1" name="Text 37"/>
          <p:cNvSpPr/>
          <p:nvPr/>
        </p:nvSpPr>
        <p:spPr>
          <a:xfrm>
            <a:off x="6748272" y="1481328"/>
            <a:ext cx="914400" cy="237744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00" dirty="0"/>
          </a:p>
        </p:txBody>
      </p:sp>
      <p:sp>
        <p:nvSpPr>
          <p:cNvPr id="52" name="Text 38"/>
          <p:cNvSpPr/>
          <p:nvPr/>
        </p:nvSpPr>
        <p:spPr>
          <a:xfrm>
            <a:off x="6748272" y="148132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13–16</a:t>
            </a:r>
            <a:endParaRPr lang="en-US" sz="900" dirty="0"/>
          </a:p>
        </p:txBody>
      </p:sp>
      <p:sp>
        <p:nvSpPr>
          <p:cNvPr id="53" name="Text 39"/>
          <p:cNvSpPr/>
          <p:nvPr/>
        </p:nvSpPr>
        <p:spPr>
          <a:xfrm>
            <a:off x="6675120" y="1755648"/>
            <a:ext cx="19933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&amp; Activate</a:t>
            </a:r>
            <a:endParaRPr lang="en-US" sz="1300" dirty="0"/>
          </a:p>
        </p:txBody>
      </p:sp>
      <p:pic>
        <p:nvPicPr>
          <p:cNvPr id="5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84848" y="2176272"/>
            <a:ext cx="182880" cy="182880"/>
          </a:xfrm>
          <a:prstGeom prst="rect">
            <a:avLst/>
          </a:prstGeom>
        </p:spPr>
      </p:pic>
      <p:sp>
        <p:nvSpPr>
          <p:cNvPr id="55" name="Text 40"/>
          <p:cNvSpPr/>
          <p:nvPr/>
        </p:nvSpPr>
        <p:spPr>
          <a:xfrm>
            <a:off x="7022592" y="214884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ML endpoint</a:t>
            </a:r>
            <a:endParaRPr lang="en-US" sz="1000" dirty="0"/>
          </a:p>
        </p:txBody>
      </p:sp>
      <p:pic>
        <p:nvPicPr>
          <p:cNvPr id="56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84848" y="2706624"/>
            <a:ext cx="182880" cy="182880"/>
          </a:xfrm>
          <a:prstGeom prst="rect">
            <a:avLst/>
          </a:prstGeom>
        </p:spPr>
      </p:pic>
      <p:sp>
        <p:nvSpPr>
          <p:cNvPr id="57" name="Text 41"/>
          <p:cNvSpPr/>
          <p:nvPr/>
        </p:nvSpPr>
        <p:spPr>
          <a:xfrm>
            <a:off x="7022592" y="267919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integration</a:t>
            </a:r>
            <a:endParaRPr lang="en-US" sz="1000" dirty="0"/>
          </a:p>
        </p:txBody>
      </p:sp>
      <p:pic>
        <p:nvPicPr>
          <p:cNvPr id="58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84848" y="3236976"/>
            <a:ext cx="182880" cy="182880"/>
          </a:xfrm>
          <a:prstGeom prst="rect">
            <a:avLst/>
          </a:prstGeom>
        </p:spPr>
      </p:pic>
      <p:sp>
        <p:nvSpPr>
          <p:cNvPr id="59" name="Text 42"/>
          <p:cNvSpPr/>
          <p:nvPr/>
        </p:nvSpPr>
        <p:spPr>
          <a:xfrm>
            <a:off x="7022592" y="3209544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000" dirty="0"/>
          </a:p>
        </p:txBody>
      </p:sp>
      <p:pic>
        <p:nvPicPr>
          <p:cNvPr id="60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784848" y="3767328"/>
            <a:ext cx="182880" cy="182880"/>
          </a:xfrm>
          <a:prstGeom prst="rect">
            <a:avLst/>
          </a:prstGeom>
        </p:spPr>
      </p:pic>
      <p:sp>
        <p:nvSpPr>
          <p:cNvPr id="61" name="Text 43"/>
          <p:cNvSpPr/>
          <p:nvPr/>
        </p:nvSpPr>
        <p:spPr>
          <a:xfrm>
            <a:off x="7022592" y="3739896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 &amp; monitoring</a:t>
            </a:r>
            <a:endParaRPr lang="en-US" sz="1000" dirty="0"/>
          </a:p>
        </p:txBody>
      </p:sp>
      <p:sp>
        <p:nvSpPr>
          <p:cNvPr id="62" name="Text 44"/>
          <p:cNvSpPr/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mitigation: Phased rollout with pilot cohort (5% of subscribers) before full deployment. Rollback plan in place.</a:t>
            </a:r>
            <a:endParaRPr lang="en-US" sz="950" dirty="0"/>
          </a:p>
        </p:txBody>
      </p:sp>
      <p:sp>
        <p:nvSpPr>
          <p:cNvPr id="63" name="Text 45"/>
          <p:cNvSpPr/>
          <p:nvPr/>
        </p:nvSpPr>
        <p:spPr>
          <a:xfrm>
            <a:off x="8778240" y="484632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2286000"/>
            <a:ext cx="4572000" cy="4572000"/>
          </a:xfrm>
          <a:prstGeom prst="ellipse">
            <a:avLst/>
          </a:prstGeom>
          <a:solidFill>
            <a:srgbClr val="1B4F72">
              <a:alpha val="20000"/>
            </a:srgbClr>
          </a:solidFill>
          <a:ln w="12700">
            <a:solidFill>
              <a:srgbClr val="00B4D8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1148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46304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in three lines: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87452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184708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22% churn rate costs $38M annually and is unsustainable.</a:t>
            </a:r>
            <a:endParaRPr lang="en-US" sz="1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468880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7240" y="244144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Azure ensemble model predicts 87% of churners 30 days in advance.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063240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77240" y="303580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retention recovers $18–22M/yr with a 5.4× ROI.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365760" y="3703320"/>
            <a:ext cx="5303520" cy="11430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502920" y="374904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requesting approval to proceed to Phase 1.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502920" y="411480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Budget sign-off: $2M / yr (infra + team)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502920" y="4352544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Executive sponsor assignment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502920" y="4590288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Data access agreements with product &amp; CRM teams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5943600" y="137160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18" name="Text 13"/>
          <p:cNvSpPr/>
          <p:nvPr/>
        </p:nvSpPr>
        <p:spPr>
          <a:xfrm>
            <a:off x="5760720" y="20116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AEC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&amp; Product Analytics</a:t>
            </a:r>
            <a:endParaRPr lang="en-US" sz="10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AEC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 Platform  ·  April 2025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8778240" y="484632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8A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OTT Churn Model — Commercial Presentation</dc:title>
  <dc:subject>PptxGenJS Presentation</dc:subject>
  <dc:creator>PptxGenJS</dc:creator>
  <cp:lastModifiedBy>PptxGenJS</cp:lastModifiedBy>
  <cp:revision>1</cp:revision>
  <dcterms:created xsi:type="dcterms:W3CDTF">2026-04-14T16:39:25Z</dcterms:created>
  <dcterms:modified xsi:type="dcterms:W3CDTF">2026-04-14T16:39:25Z</dcterms:modified>
</cp:coreProperties>
</file>